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0" r:id="rId9"/>
    <p:sldId id="265" r:id="rId10"/>
    <p:sldId id="266" r:id="rId11"/>
    <p:sldId id="267" r:id="rId12"/>
    <p:sldId id="272" r:id="rId13"/>
    <p:sldId id="268" r:id="rId14"/>
    <p:sldId id="271" r:id="rId15"/>
    <p:sldId id="269" r:id="rId16"/>
    <p:sldId id="270" r:id="rId17"/>
    <p:sldId id="261" r:id="rId18"/>
  </p:sldIdLst>
  <p:sldSz cx="9144000" cy="5143500" type="screen16x9"/>
  <p:notesSz cx="6858000" cy="9144000"/>
  <p:embeddedFontLst>
    <p:embeddedFont>
      <p:font typeface="Lato" panose="020B0604020202020204" charset="0"/>
      <p:regular r:id="rId20"/>
      <p:bold r:id="rId21"/>
      <p:italic r:id="rId22"/>
      <p:boldItalic r:id="rId23"/>
    </p:embeddedFont>
    <p:embeddedFont>
      <p:font typeface="Montserrat" panose="020B0604020202020204" charset="0"/>
      <p:regular r:id="rId24"/>
      <p:bold r:id="rId25"/>
      <p:italic r:id="rId26"/>
      <p:boldItalic r:id="rId27"/>
    </p:embeddedFont>
    <p:embeddedFont>
      <p:font typeface="Raleway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-822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79997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6251e9b6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36251e9b6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6251e9b6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6251e9b6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dd7cebb9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dd7cebb9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6251e9b6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6251e9b6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7dd7cebb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7dd7cebb9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6251e9b6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6251e9b6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71450" y="1940171"/>
            <a:ext cx="8520600" cy="2014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endParaRPr lang="fr-FR" sz="1400" b="1" dirty="0" smtClean="0">
              <a:solidFill>
                <a:schemeClr val="bg2"/>
              </a:solidFill>
              <a:latin typeface="+mj-lt"/>
            </a:endParaRPr>
          </a:p>
          <a:p>
            <a:pPr algn="ctr"/>
            <a:r>
              <a:rPr lang="fr-FR" sz="1400" b="1" dirty="0">
                <a:solidFill>
                  <a:srgbClr val="0070C0"/>
                </a:solidFill>
                <a:latin typeface="+mj-lt"/>
              </a:rPr>
              <a:t>Manipulez une base de données avec SQL pour suivre la satisfaction </a:t>
            </a:r>
            <a:r>
              <a:rPr lang="fr-FR" sz="1400" b="1" dirty="0" smtClean="0">
                <a:solidFill>
                  <a:srgbClr val="0070C0"/>
                </a:solidFill>
                <a:latin typeface="+mj-lt"/>
              </a:rPr>
              <a:t>client</a:t>
            </a:r>
          </a:p>
          <a:p>
            <a:pPr algn="ctr"/>
            <a:endParaRPr lang="fr-FR" sz="1300" b="1" dirty="0">
              <a:solidFill>
                <a:srgbClr val="0070C0"/>
              </a:solidFill>
              <a:latin typeface="+mj-lt"/>
            </a:endParaRPr>
          </a:p>
          <a:p>
            <a:pPr algn="ctr"/>
            <a:r>
              <a:rPr lang="fr-FR" sz="1300" b="1" dirty="0">
                <a:solidFill>
                  <a:srgbClr val="0070C0"/>
                </a:solidFill>
                <a:latin typeface="+mj-lt"/>
              </a:rPr>
              <a:t> RetailInsight360: Analyse des retours et avis clients </a:t>
            </a:r>
            <a:r>
              <a:rPr lang="fr-FR" sz="1300" b="1" dirty="0" err="1">
                <a:solidFill>
                  <a:srgbClr val="0070C0"/>
                </a:solidFill>
                <a:latin typeface="+mj-lt"/>
              </a:rPr>
              <a:t>BestMarket</a:t>
            </a:r>
            <a:r>
              <a:rPr lang="fr-FR" sz="1300" b="1" dirty="0">
                <a:solidFill>
                  <a:srgbClr val="0070C0"/>
                </a:solidFill>
                <a:latin typeface="+mj-lt"/>
              </a:rPr>
              <a:t> </a:t>
            </a:r>
            <a:endParaRPr lang="fr-FR" sz="1300" b="1" dirty="0" smtClean="0">
              <a:solidFill>
                <a:srgbClr val="0070C0"/>
              </a:solidFill>
              <a:latin typeface="+mj-lt"/>
            </a:endParaRPr>
          </a:p>
          <a:p>
            <a:pPr algn="ctr"/>
            <a:r>
              <a:rPr lang="fr-FR" sz="1300" b="1" dirty="0">
                <a:solidFill>
                  <a:schemeClr val="bg2"/>
                </a:solidFill>
                <a:latin typeface="+mj-lt"/>
              </a:rPr>
              <a:t>	</a:t>
            </a:r>
            <a:endParaRPr lang="fr-FR" sz="1300" b="1" dirty="0" smtClean="0">
              <a:solidFill>
                <a:schemeClr val="bg2"/>
              </a:solidFill>
              <a:latin typeface="+mj-lt"/>
            </a:endParaRPr>
          </a:p>
          <a:p>
            <a:pPr algn="ctr"/>
            <a:endParaRPr lang="fr-FR" sz="1400" b="1" dirty="0" smtClean="0">
              <a:solidFill>
                <a:schemeClr val="bg2"/>
              </a:solidFill>
              <a:latin typeface="+mj-lt"/>
            </a:endParaRPr>
          </a:p>
          <a:p>
            <a:pPr algn="ctr"/>
            <a:r>
              <a:rPr lang="fr-FR" sz="1400" b="1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ASSIA KAMOUNE</a:t>
            </a:r>
            <a:endParaRPr lang="fr-FR" sz="1400" b="1"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algn="ctr"/>
            <a:r>
              <a:rPr lang="fr-FR" sz="1400" b="1" i="1" dirty="0" smtClean="0">
                <a:solidFill>
                  <a:schemeClr val="bg2"/>
                </a:solidFill>
                <a:latin typeface="+mj-lt"/>
                <a:ea typeface="Montserrat"/>
                <a:cs typeface="Montserrat"/>
                <a:sym typeface="Montserrat"/>
              </a:rPr>
              <a:t>12/11/2025</a:t>
            </a:r>
            <a:endParaRPr sz="1400" b="1"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" y="118550"/>
            <a:ext cx="4400550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7650" y="605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5290" algn="l" rtl="0">
              <a:spcBef>
                <a:spcPts val="0"/>
              </a:spcBef>
              <a:spcAft>
                <a:spcPts val="0"/>
              </a:spcAft>
              <a:buSzPts val="2940"/>
              <a:buFont typeface="Montserrat"/>
              <a:buAutoNum type="arabicParenR"/>
            </a:pPr>
            <a:r>
              <a:rPr lang="fr" sz="2940">
                <a:latin typeface="Montserrat"/>
                <a:ea typeface="Montserrat"/>
                <a:cs typeface="Montserrat"/>
                <a:sym typeface="Montserrat"/>
              </a:rPr>
              <a:t>Contexte et expression du besoin</a:t>
            </a:r>
            <a:endParaRPr sz="294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20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7650" y="1758825"/>
            <a:ext cx="7688700" cy="20419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46050" indent="0" algn="just">
              <a:buNone/>
            </a:pPr>
            <a:r>
              <a:rPr lang="fr-FR" sz="1200" dirty="0" smtClean="0">
                <a:solidFill>
                  <a:schemeClr val="bg2"/>
                </a:solidFill>
                <a:latin typeface="+mj-lt"/>
              </a:rPr>
              <a:t> </a:t>
            </a:r>
          </a:p>
          <a:p>
            <a:pPr algn="just"/>
            <a:r>
              <a:rPr lang="fr-FR" sz="1200" dirty="0" err="1">
                <a:solidFill>
                  <a:schemeClr val="bg2"/>
                </a:solidFill>
                <a:latin typeface="+mj-lt"/>
              </a:rPr>
              <a:t>BestMarket</a:t>
            </a:r>
            <a:r>
              <a:rPr lang="fr-FR" sz="1200" dirty="0">
                <a:solidFill>
                  <a:schemeClr val="bg2"/>
                </a:solidFill>
                <a:latin typeface="+mj-lt"/>
              </a:rPr>
              <a:t> souhaite mieux comprendre la satisfaction de ses clients à partir des retours multicanaux pour piloter la qualité des magasins</a:t>
            </a:r>
            <a:r>
              <a:rPr lang="fr-FR" sz="1200" dirty="0" smtClean="0">
                <a:solidFill>
                  <a:schemeClr val="bg2"/>
                </a:solidFill>
                <a:latin typeface="+mj-lt"/>
              </a:rPr>
              <a:t>.</a:t>
            </a:r>
          </a:p>
          <a:p>
            <a:pPr marL="146050" indent="0" algn="just">
              <a:buNone/>
            </a:pPr>
            <a:endParaRPr lang="fr-FR" sz="1200" dirty="0" smtClean="0">
              <a:solidFill>
                <a:schemeClr val="bg2"/>
              </a:solidFill>
              <a:latin typeface="+mj-lt"/>
            </a:endParaRPr>
          </a:p>
          <a:p>
            <a:pPr algn="just"/>
            <a:r>
              <a:rPr lang="fr-FR" sz="1200" dirty="0" err="1" smtClean="0">
                <a:solidFill>
                  <a:schemeClr val="bg2"/>
                </a:solidFill>
                <a:latin typeface="+mj-lt"/>
              </a:rPr>
              <a:t>BestMarket</a:t>
            </a:r>
            <a:r>
              <a:rPr lang="fr-FR" sz="1200" dirty="0" smtClean="0">
                <a:solidFill>
                  <a:schemeClr val="bg2"/>
                </a:solidFill>
                <a:latin typeface="+mj-lt"/>
              </a:rPr>
              <a:t> </a:t>
            </a:r>
            <a:r>
              <a:rPr lang="fr-FR" sz="1200" dirty="0">
                <a:solidFill>
                  <a:schemeClr val="bg2"/>
                </a:solidFill>
                <a:latin typeface="+mj-lt"/>
              </a:rPr>
              <a:t>souhaite exploiter les données issues des retours clients (email, téléphone, réseaux sociaux…) afin d’évaluer la satisfaction de sa clientèle sur l’ensemble de son réseau de magasins. 	</a:t>
            </a:r>
          </a:p>
          <a:p>
            <a:pPr algn="just"/>
            <a:endParaRPr lang="fr-FR" sz="1200" dirty="0">
              <a:solidFill>
                <a:schemeClr val="bg2"/>
              </a:solidFill>
              <a:latin typeface="+mj-lt"/>
            </a:endParaRPr>
          </a:p>
          <a:p>
            <a:pPr algn="just"/>
            <a:r>
              <a:rPr lang="fr-FR" sz="1200" dirty="0">
                <a:solidFill>
                  <a:schemeClr val="bg2"/>
                </a:solidFill>
                <a:latin typeface="+mj-lt"/>
              </a:rPr>
              <a:t> L’enjeu est de disposer d’une vision à 360° de l’expérience client, pour améliorer les processus internes et renforcer la fidélisation. 	</a:t>
            </a:r>
          </a:p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endParaRPr sz="1200"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7650" y="605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940" dirty="0" smtClean="0">
                <a:latin typeface="Montserrat"/>
                <a:ea typeface="Montserrat"/>
                <a:cs typeface="Montserrat"/>
                <a:sym typeface="Montserrat"/>
              </a:rPr>
              <a:t>2)  Sauvegarde et stockage de la BDD</a:t>
            </a:r>
            <a:br>
              <a:rPr lang="fr" sz="2940" dirty="0" smtClean="0">
                <a:latin typeface="Montserrat"/>
                <a:ea typeface="Montserrat"/>
                <a:cs typeface="Montserrat"/>
                <a:sym typeface="Montserrat"/>
              </a:rPr>
            </a:br>
            <a:endParaRPr sz="2940" dirty="0" smtClean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20"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7650" y="1395269"/>
            <a:ext cx="7688700" cy="35072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 algn="ctr">
              <a:buNone/>
            </a:pPr>
            <a:r>
              <a:rPr lang="fr-FR" sz="1400" b="1" dirty="0">
                <a:solidFill>
                  <a:schemeClr val="bg2"/>
                </a:solidFill>
                <a:latin typeface="+mj-lt"/>
              </a:rPr>
              <a:t>Bonnes pratiques </a:t>
            </a: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: Sauvegarde, stockage  </a:t>
            </a:r>
            <a:r>
              <a:rPr lang="fr-FR" sz="1400" b="1" dirty="0">
                <a:solidFill>
                  <a:schemeClr val="bg2"/>
                </a:solidFill>
                <a:latin typeface="+mj-lt"/>
              </a:rPr>
              <a:t>&amp; </a:t>
            </a: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accès</a:t>
            </a:r>
          </a:p>
          <a:p>
            <a:pPr marL="146050" indent="0" algn="ctr">
              <a:buNone/>
            </a:pPr>
            <a:endParaRPr lang="fr-FR" b="1" dirty="0">
              <a:solidFill>
                <a:schemeClr val="bg2"/>
              </a:solidFill>
              <a:latin typeface="+mj-lt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bg2"/>
                </a:solidFill>
                <a:latin typeface="+mj-lt"/>
              </a:rPr>
              <a:t>Sauvegarde :</a:t>
            </a:r>
            <a:endParaRPr lang="fr-FR" dirty="0">
              <a:solidFill>
                <a:schemeClr val="bg2"/>
              </a:solidFill>
              <a:latin typeface="+mj-lt"/>
            </a:endParaRPr>
          </a:p>
          <a:p>
            <a:pPr lvl="1" algn="just"/>
            <a:r>
              <a:rPr lang="fr-FR" sz="1300" dirty="0" smtClean="0">
                <a:solidFill>
                  <a:schemeClr val="bg2"/>
                </a:solidFill>
                <a:latin typeface="+mj-lt"/>
              </a:rPr>
              <a:t>Créer </a:t>
            </a:r>
            <a:r>
              <a:rPr lang="fr-FR" sz="1300" dirty="0">
                <a:solidFill>
                  <a:schemeClr val="bg2"/>
                </a:solidFill>
                <a:latin typeface="+mj-lt"/>
              </a:rPr>
              <a:t>des </a:t>
            </a:r>
            <a:r>
              <a:rPr lang="fr-FR" sz="1300" b="1" dirty="0">
                <a:solidFill>
                  <a:schemeClr val="bg2"/>
                </a:solidFill>
                <a:latin typeface="+mj-lt"/>
              </a:rPr>
              <a:t>copies régulières</a:t>
            </a:r>
            <a:r>
              <a:rPr lang="fr-FR" sz="1300" dirty="0">
                <a:solidFill>
                  <a:schemeClr val="bg2"/>
                </a:solidFill>
                <a:latin typeface="+mj-lt"/>
              </a:rPr>
              <a:t> de </a:t>
            </a:r>
            <a:r>
              <a:rPr lang="fr-FR" sz="1300" dirty="0" smtClean="0">
                <a:solidFill>
                  <a:schemeClr val="bg2"/>
                </a:solidFill>
                <a:latin typeface="+mj-lt"/>
              </a:rPr>
              <a:t>la base de données (</a:t>
            </a:r>
            <a:r>
              <a:rPr lang="fr-FR" sz="1300" dirty="0">
                <a:solidFill>
                  <a:schemeClr val="bg2"/>
                </a:solidFill>
                <a:latin typeface="+mj-lt"/>
              </a:rPr>
              <a:t>quotidiennes/hebdomadaires).</a:t>
            </a:r>
          </a:p>
          <a:p>
            <a:pPr lvl="1" algn="just"/>
            <a:r>
              <a:rPr lang="fr-FR" sz="1300" dirty="0" smtClean="0">
                <a:solidFill>
                  <a:schemeClr val="bg2"/>
                </a:solidFill>
                <a:latin typeface="+mj-lt"/>
              </a:rPr>
              <a:t>Stocker-les </a:t>
            </a:r>
            <a:r>
              <a:rPr lang="fr-FR" sz="1300" dirty="0">
                <a:solidFill>
                  <a:schemeClr val="bg2"/>
                </a:solidFill>
                <a:latin typeface="+mj-lt"/>
              </a:rPr>
              <a:t>sur un </a:t>
            </a:r>
            <a:r>
              <a:rPr lang="fr-FR" sz="1300" b="1" dirty="0">
                <a:solidFill>
                  <a:schemeClr val="bg2"/>
                </a:solidFill>
                <a:latin typeface="+mj-lt"/>
              </a:rPr>
              <a:t>serveur cloud sécurisé</a:t>
            </a:r>
            <a:r>
              <a:rPr lang="fr-FR" sz="1300" dirty="0">
                <a:solidFill>
                  <a:schemeClr val="bg2"/>
                </a:solidFill>
                <a:latin typeface="+mj-lt"/>
              </a:rPr>
              <a:t> (OneDrive Entreprise, SharePoint, etc.).</a:t>
            </a:r>
          </a:p>
          <a:p>
            <a:pPr algn="just"/>
            <a:endParaRPr lang="fr-FR" b="1" dirty="0" smtClean="0">
              <a:solidFill>
                <a:schemeClr val="bg2"/>
              </a:solidFill>
              <a:latin typeface="+mj-lt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 smtClean="0">
                <a:solidFill>
                  <a:schemeClr val="bg2"/>
                </a:solidFill>
                <a:latin typeface="+mj-lt"/>
              </a:rPr>
              <a:t>Stockage </a:t>
            </a:r>
            <a:r>
              <a:rPr lang="fr-FR" b="1" dirty="0">
                <a:solidFill>
                  <a:schemeClr val="bg2"/>
                </a:solidFill>
                <a:latin typeface="+mj-lt"/>
              </a:rPr>
              <a:t>:</a:t>
            </a:r>
            <a:endParaRPr lang="fr-FR" dirty="0">
              <a:solidFill>
                <a:schemeClr val="bg2"/>
              </a:solidFill>
              <a:latin typeface="+mj-lt"/>
            </a:endParaRPr>
          </a:p>
          <a:p>
            <a:pPr lvl="1" algn="just"/>
            <a:r>
              <a:rPr lang="fr-FR" sz="1300" dirty="0">
                <a:solidFill>
                  <a:schemeClr val="bg2"/>
                </a:solidFill>
                <a:latin typeface="+mj-lt"/>
              </a:rPr>
              <a:t>Centraliser les données dans un dossier partagé (ex. “/data/retail_insight360/”).</a:t>
            </a:r>
          </a:p>
          <a:p>
            <a:pPr lvl="1" algn="just"/>
            <a:r>
              <a:rPr lang="fr-FR" sz="1300" dirty="0">
                <a:solidFill>
                  <a:schemeClr val="bg2"/>
                </a:solidFill>
                <a:latin typeface="+mj-lt"/>
              </a:rPr>
              <a:t>Séparer les fichiers sources (CSV) des exports (rapports, </a:t>
            </a:r>
            <a:r>
              <a:rPr lang="fr-FR" sz="1300" dirty="0" err="1">
                <a:solidFill>
                  <a:schemeClr val="bg2"/>
                </a:solidFill>
                <a:latin typeface="+mj-lt"/>
              </a:rPr>
              <a:t>dashboards</a:t>
            </a:r>
            <a:r>
              <a:rPr lang="fr-FR" sz="1300" dirty="0" smtClean="0">
                <a:solidFill>
                  <a:schemeClr val="bg2"/>
                </a:solidFill>
                <a:latin typeface="+mj-lt"/>
              </a:rPr>
              <a:t>).</a:t>
            </a:r>
          </a:p>
          <a:p>
            <a:pPr marL="615950" lvl="1" indent="0" algn="just">
              <a:buNone/>
            </a:pPr>
            <a:endParaRPr lang="fr-FR" sz="1300" dirty="0">
              <a:solidFill>
                <a:schemeClr val="bg2"/>
              </a:solidFill>
              <a:latin typeface="+mj-lt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bg2"/>
                </a:solidFill>
                <a:latin typeface="+mj-lt"/>
              </a:rPr>
              <a:t>Accès :</a:t>
            </a:r>
            <a:endParaRPr lang="fr-FR" dirty="0">
              <a:solidFill>
                <a:schemeClr val="bg2"/>
              </a:solidFill>
              <a:latin typeface="+mj-lt"/>
            </a:endParaRPr>
          </a:p>
          <a:p>
            <a:pPr lvl="1" algn="just"/>
            <a:r>
              <a:rPr lang="fr-FR" sz="1300" dirty="0">
                <a:solidFill>
                  <a:schemeClr val="bg2"/>
                </a:solidFill>
                <a:latin typeface="+mj-lt"/>
              </a:rPr>
              <a:t>Lecture seule pour les utilisateurs métier.</a:t>
            </a:r>
          </a:p>
          <a:p>
            <a:pPr lvl="1" algn="just"/>
            <a:r>
              <a:rPr lang="fr-FR" sz="1300" dirty="0">
                <a:solidFill>
                  <a:schemeClr val="bg2"/>
                </a:solidFill>
                <a:latin typeface="+mj-lt"/>
              </a:rPr>
              <a:t>Écriture uniquement pour la data team.</a:t>
            </a:r>
          </a:p>
          <a:p>
            <a:pPr lvl="1" algn="just"/>
            <a:r>
              <a:rPr lang="fr-FR" sz="1300" dirty="0">
                <a:solidFill>
                  <a:schemeClr val="bg2"/>
                </a:solidFill>
                <a:latin typeface="+mj-lt"/>
              </a:rPr>
              <a:t>Mots de passe forts et authentification via VPN.</a:t>
            </a:r>
          </a:p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endParaRPr i="1" dirty="0">
              <a:solidFill>
                <a:schemeClr val="bg2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71718" y="-33053"/>
            <a:ext cx="7688700" cy="6610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fr" sz="2800" dirty="0">
                <a:latin typeface="Montserrat"/>
                <a:ea typeface="Montserrat"/>
                <a:cs typeface="Montserrat"/>
                <a:sym typeface="Montserrat"/>
              </a:rPr>
              <a:t>3)  Méthodologie suivie </a:t>
            </a:r>
            <a:endParaRPr sz="28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286706" y="435313"/>
            <a:ext cx="8063810" cy="7875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ctr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Charger la base de données :</a:t>
            </a:r>
          </a:p>
          <a:p>
            <a:pPr marL="0" lv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Base </a:t>
            </a:r>
            <a:r>
              <a:rPr lang="fr-FR" sz="1400" b="1" dirty="0">
                <a:solidFill>
                  <a:schemeClr val="bg2"/>
                </a:solidFill>
                <a:latin typeface="+mj-lt"/>
              </a:rPr>
              <a:t>de données </a:t>
            </a:r>
            <a:r>
              <a:rPr lang="fr-FR" sz="1400" b="1" dirty="0" err="1">
                <a:solidFill>
                  <a:schemeClr val="bg2"/>
                </a:solidFill>
                <a:latin typeface="+mj-lt"/>
              </a:rPr>
              <a:t>feedback.db</a:t>
            </a:r>
            <a:r>
              <a:rPr lang="fr-FR" sz="1400" b="1" dirty="0">
                <a:solidFill>
                  <a:schemeClr val="bg2"/>
                </a:solidFill>
                <a:latin typeface="+mj-lt"/>
              </a:rPr>
              <a:t> importée dans </a:t>
            </a:r>
            <a:r>
              <a:rPr lang="fr-FR" sz="1400" b="1" dirty="0" err="1">
                <a:solidFill>
                  <a:schemeClr val="bg2"/>
                </a:solidFill>
                <a:latin typeface="+mj-lt"/>
              </a:rPr>
              <a:t>SQLite</a:t>
            </a: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.</a:t>
            </a:r>
          </a:p>
          <a:p>
            <a:pPr marL="0" lvl="0" indent="0" algn="ctr">
              <a:lnSpc>
                <a:spcPct val="100000"/>
              </a:lnSpc>
              <a:spcAft>
                <a:spcPts val="1200"/>
              </a:spcAft>
              <a:buNone/>
            </a:pPr>
            <a:endParaRPr lang="fr-FR" sz="1400" b="1" dirty="0" smtClean="0">
              <a:solidFill>
                <a:schemeClr val="bg2"/>
              </a:solidFill>
              <a:latin typeface="+mj-lt"/>
            </a:endParaRPr>
          </a:p>
          <a:p>
            <a:pPr marL="0" lvl="0" indent="0" algn="ctr">
              <a:lnSpc>
                <a:spcPct val="100000"/>
              </a:lnSpc>
              <a:spcAft>
                <a:spcPts val="1200"/>
              </a:spcAft>
              <a:buNone/>
            </a:pPr>
            <a:endParaRPr sz="1400" b="1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4737"/>
            <a:ext cx="9144000" cy="400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1691" y="539815"/>
            <a:ext cx="8350785" cy="374575"/>
          </a:xfrm>
        </p:spPr>
        <p:txBody>
          <a:bodyPr>
            <a:noAutofit/>
          </a:bodyPr>
          <a:lstStyle/>
          <a:p>
            <a:pPr marL="146050" indent="0" algn="just">
              <a:buNone/>
            </a:pP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2.  Mettre </a:t>
            </a:r>
            <a:r>
              <a:rPr lang="fr-FR" sz="1400" b="1" dirty="0">
                <a:solidFill>
                  <a:schemeClr val="bg2"/>
                </a:solidFill>
                <a:latin typeface="+mj-lt"/>
              </a:rPr>
              <a:t>à</a:t>
            </a: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 jour la base </a:t>
            </a:r>
            <a:r>
              <a:rPr lang="fr-FR" sz="1400" b="1" dirty="0">
                <a:solidFill>
                  <a:schemeClr val="bg2"/>
                </a:solidFill>
                <a:latin typeface="+mj-lt"/>
              </a:rPr>
              <a:t>de </a:t>
            </a: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données, le dictionnaire </a:t>
            </a:r>
            <a:r>
              <a:rPr lang="fr-FR" sz="1400" b="1" dirty="0">
                <a:solidFill>
                  <a:schemeClr val="bg2"/>
                </a:solidFill>
                <a:latin typeface="+mj-lt"/>
              </a:rPr>
              <a:t>de </a:t>
            </a: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données et le schéma relationnel </a:t>
            </a:r>
          </a:p>
          <a:p>
            <a:pPr algn="just"/>
            <a:endParaRPr lang="fr-FR" sz="1400" b="1" dirty="0">
              <a:solidFill>
                <a:schemeClr val="bg2"/>
              </a:solidFill>
              <a:latin typeface="+mj-lt"/>
            </a:endParaRPr>
          </a:p>
          <a:p>
            <a:pPr marL="146050" indent="0" algn="just">
              <a:buNone/>
            </a:pPr>
            <a:r>
              <a:rPr lang="fr-FR" sz="1400" b="1" dirty="0">
                <a:solidFill>
                  <a:schemeClr val="bg2"/>
                </a:solidFill>
                <a:latin typeface="+mj-lt"/>
              </a:rPr>
              <a:t> </a:t>
            </a:r>
          </a:p>
        </p:txBody>
      </p:sp>
      <p:sp>
        <p:nvSpPr>
          <p:cNvPr id="4" name="Google Shape;104;p16"/>
          <p:cNvSpPr txBox="1">
            <a:spLocks/>
          </p:cNvSpPr>
          <p:nvPr/>
        </p:nvSpPr>
        <p:spPr>
          <a:xfrm>
            <a:off x="804232" y="-10"/>
            <a:ext cx="7688700" cy="66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>
              <a:buClr>
                <a:schemeClr val="dk1"/>
              </a:buClr>
              <a:buSzPct val="33333"/>
              <a:buFont typeface="Arial"/>
              <a:buNone/>
            </a:pPr>
            <a:r>
              <a:rPr lang="fr-FR" sz="2800" dirty="0" smtClean="0">
                <a:latin typeface="Montserrat"/>
                <a:ea typeface="Montserrat"/>
                <a:cs typeface="Montserrat"/>
                <a:sym typeface="Montserrat"/>
              </a:rPr>
              <a:t>3)  Méthodologie suivie</a:t>
            </a:r>
            <a:endParaRPr lang="fr-FR" sz="28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9484"/>
            <a:ext cx="9144000" cy="4174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252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506775"/>
            <a:ext cx="9055865" cy="4636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texte 2"/>
          <p:cNvSpPr>
            <a:spLocks noGrp="1"/>
          </p:cNvSpPr>
          <p:nvPr>
            <p:ph type="body" idx="1"/>
          </p:nvPr>
        </p:nvSpPr>
        <p:spPr>
          <a:xfrm>
            <a:off x="352538" y="88124"/>
            <a:ext cx="8350785" cy="374575"/>
          </a:xfrm>
        </p:spPr>
        <p:txBody>
          <a:bodyPr>
            <a:noAutofit/>
          </a:bodyPr>
          <a:lstStyle/>
          <a:p>
            <a:pPr marL="146050" indent="0" algn="ctr">
              <a:buNone/>
            </a:pP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Mettre </a:t>
            </a:r>
            <a:r>
              <a:rPr lang="fr-FR" sz="1400" b="1" dirty="0">
                <a:solidFill>
                  <a:schemeClr val="bg2"/>
                </a:solidFill>
                <a:latin typeface="+mj-lt"/>
              </a:rPr>
              <a:t>à</a:t>
            </a: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 jour le dictionnaire </a:t>
            </a:r>
            <a:r>
              <a:rPr lang="fr-FR" sz="1400" b="1" dirty="0">
                <a:solidFill>
                  <a:schemeClr val="bg2"/>
                </a:solidFill>
                <a:latin typeface="+mj-lt"/>
              </a:rPr>
              <a:t>de </a:t>
            </a: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données  </a:t>
            </a:r>
          </a:p>
          <a:p>
            <a:pPr algn="just"/>
            <a:endParaRPr lang="fr-FR" sz="1400" b="1" dirty="0">
              <a:solidFill>
                <a:schemeClr val="bg2"/>
              </a:solidFill>
              <a:latin typeface="+mj-lt"/>
            </a:endParaRPr>
          </a:p>
          <a:p>
            <a:pPr marL="146050" indent="0" algn="just">
              <a:buNone/>
            </a:pPr>
            <a:r>
              <a:rPr lang="fr-FR" sz="1400" b="1" dirty="0">
                <a:solidFill>
                  <a:schemeClr val="bg2"/>
                </a:solidFill>
                <a:latin typeface="+mj-l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5484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3" y="1035586"/>
            <a:ext cx="8937185" cy="4107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texte 2"/>
          <p:cNvSpPr>
            <a:spLocks noGrp="1"/>
          </p:cNvSpPr>
          <p:nvPr>
            <p:ph type="body" idx="1"/>
          </p:nvPr>
        </p:nvSpPr>
        <p:spPr>
          <a:xfrm>
            <a:off x="495759" y="143208"/>
            <a:ext cx="8350785" cy="374575"/>
          </a:xfrm>
        </p:spPr>
        <p:txBody>
          <a:bodyPr>
            <a:noAutofit/>
          </a:bodyPr>
          <a:lstStyle/>
          <a:p>
            <a:pPr marL="146050" indent="0" algn="ctr">
              <a:buNone/>
            </a:pP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Mettre </a:t>
            </a:r>
            <a:r>
              <a:rPr lang="fr-FR" sz="1400" b="1" dirty="0">
                <a:solidFill>
                  <a:schemeClr val="bg2"/>
                </a:solidFill>
                <a:latin typeface="+mj-lt"/>
              </a:rPr>
              <a:t>à</a:t>
            </a: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 jour le schéma relationnel </a:t>
            </a:r>
          </a:p>
          <a:p>
            <a:pPr algn="just"/>
            <a:endParaRPr lang="fr-FR" sz="1400" b="1" dirty="0">
              <a:solidFill>
                <a:schemeClr val="bg2"/>
              </a:solidFill>
              <a:latin typeface="+mj-lt"/>
            </a:endParaRPr>
          </a:p>
          <a:p>
            <a:pPr marL="146050" indent="0" algn="just">
              <a:buNone/>
            </a:pPr>
            <a:r>
              <a:rPr lang="fr-FR" sz="1400" b="1" dirty="0">
                <a:solidFill>
                  <a:schemeClr val="bg2"/>
                </a:solidFill>
                <a:latin typeface="+mj-l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63323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>
                <a:latin typeface="Montserrat"/>
                <a:ea typeface="Montserrat"/>
                <a:cs typeface="Montserrat"/>
                <a:sym typeface="Montserrat"/>
              </a:rPr>
              <a:t>4)  </a:t>
            </a:r>
            <a:r>
              <a:rPr lang="fr" sz="2400" dirty="0" smtClean="0">
                <a:latin typeface="Montserrat"/>
                <a:ea typeface="Montserrat"/>
                <a:cs typeface="Montserrat"/>
                <a:sym typeface="Montserrat"/>
              </a:rPr>
              <a:t>Requêtes </a:t>
            </a:r>
            <a:r>
              <a:rPr lang="fr" sz="2400" dirty="0">
                <a:latin typeface="Montserrat"/>
                <a:ea typeface="Montserrat"/>
                <a:cs typeface="Montserrat"/>
                <a:sym typeface="Montserrat"/>
              </a:rPr>
              <a:t>SQL et Analyses</a:t>
            </a:r>
            <a:endParaRPr sz="2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4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643" y="828564"/>
            <a:ext cx="16097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1445"/>
            <a:ext cx="375285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" y="1824328"/>
            <a:ext cx="4095750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728" y="1975236"/>
            <a:ext cx="4143375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" y="3574693"/>
            <a:ext cx="32099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053" y="3473418"/>
            <a:ext cx="421005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17"/>
          <p:cNvSpPr txBox="1">
            <a:spLocks/>
          </p:cNvSpPr>
          <p:nvPr/>
        </p:nvSpPr>
        <p:spPr>
          <a:xfrm>
            <a:off x="7276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fr-FR" sz="2400" dirty="0" smtClean="0">
                <a:latin typeface="Montserrat"/>
                <a:ea typeface="Montserrat"/>
                <a:cs typeface="Montserrat"/>
                <a:sym typeface="Montserrat"/>
              </a:rPr>
              <a:t>4)  Requêtes SQL et Analyses</a:t>
            </a:r>
          </a:p>
          <a:p>
            <a:pPr>
              <a:buSzPts val="990"/>
            </a:pPr>
            <a:endParaRPr lang="fr-FR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4205"/>
            <a:ext cx="3955055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85573"/>
            <a:ext cx="3810000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539" y="1986420"/>
            <a:ext cx="4124325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79313"/>
            <a:ext cx="34956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7787" y="3382179"/>
            <a:ext cx="4124325" cy="1641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685" y="535201"/>
            <a:ext cx="4151427" cy="130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004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17"/>
          <p:cNvSpPr txBox="1">
            <a:spLocks/>
          </p:cNvSpPr>
          <p:nvPr/>
        </p:nvSpPr>
        <p:spPr>
          <a:xfrm>
            <a:off x="7276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fr-FR" sz="2400" dirty="0" smtClean="0">
                <a:latin typeface="Montserrat"/>
                <a:ea typeface="Montserrat"/>
                <a:cs typeface="Montserrat"/>
                <a:sym typeface="Montserrat"/>
              </a:rPr>
              <a:t>4)  Requêtes SQL et Analyses</a:t>
            </a:r>
          </a:p>
          <a:p>
            <a:pPr>
              <a:buSzPts val="990"/>
            </a:pPr>
            <a:endParaRPr lang="fr-FR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511939"/>
            <a:ext cx="4175393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688211"/>
            <a:ext cx="432435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0909"/>
            <a:ext cx="4175392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83144"/>
            <a:ext cx="4285561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90383"/>
            <a:ext cx="4324350" cy="1753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150" y="2237516"/>
            <a:ext cx="4267200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323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17"/>
          <p:cNvSpPr txBox="1">
            <a:spLocks/>
          </p:cNvSpPr>
          <p:nvPr/>
        </p:nvSpPr>
        <p:spPr>
          <a:xfrm>
            <a:off x="7276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fr-FR" sz="2400" dirty="0" smtClean="0">
                <a:latin typeface="Montserrat"/>
                <a:ea typeface="Montserrat"/>
                <a:cs typeface="Montserrat"/>
                <a:sym typeface="Montserrat"/>
              </a:rPr>
              <a:t>4)  Requêtes SQL et Analyses</a:t>
            </a:r>
          </a:p>
          <a:p>
            <a:pPr>
              <a:buSzPts val="990"/>
            </a:pPr>
            <a:endParaRPr lang="fr-FR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869470"/>
            <a:ext cx="4524375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869471"/>
            <a:ext cx="41910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87" y="3805995"/>
            <a:ext cx="5982159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346" y="3805995"/>
            <a:ext cx="3040654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50843" y="2396141"/>
            <a:ext cx="75906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/>
              <a:t>L’analyse montre que le service après-vente a enregistré son plus grand nombre de retours clients au cours du mois de </a:t>
            </a:r>
            <a:r>
              <a:rPr lang="fr-FR" sz="1200" b="1" dirty="0" smtClean="0"/>
              <a:t>Octobre</a:t>
            </a:r>
            <a:r>
              <a:rPr lang="fr-FR" sz="1200" dirty="0" smtClean="0"/>
              <a:t>.</a:t>
            </a:r>
          </a:p>
          <a:p>
            <a:r>
              <a:rPr lang="fr-FR" sz="1200" dirty="0"/>
              <a:t/>
            </a:r>
            <a:br>
              <a:rPr lang="fr-FR" sz="1200" dirty="0"/>
            </a:br>
            <a:r>
              <a:rPr lang="fr-FR" sz="1200" dirty="0"/>
              <a:t>Ce pic d’activité peut correspondre à une période de forte affluence commerciale (promotions, ventes de </a:t>
            </a:r>
            <a:r>
              <a:rPr lang="fr-FR" sz="1200" dirty="0" err="1" smtClean="0"/>
              <a:t>Halloween,etc</a:t>
            </a:r>
            <a:r>
              <a:rPr lang="fr-FR" sz="1200" dirty="0" smtClean="0"/>
              <a:t>)</a:t>
            </a:r>
            <a:endParaRPr lang="fr-FR" sz="1200" dirty="0" smtClean="0"/>
          </a:p>
        </p:txBody>
      </p:sp>
    </p:spTree>
    <p:extLst>
      <p:ext uri="{BB962C8B-B14F-4D97-AF65-F5344CB8AC3E}">
        <p14:creationId xmlns:p14="http://schemas.microsoft.com/office/powerpoint/2010/main" val="49680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0910"/>
            <a:ext cx="4572000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775" y="940910"/>
            <a:ext cx="4467225" cy="2437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236863" y="3555309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fr-FR" dirty="0"/>
              <a:t>Cette analyse permet d’identifier les magasins dont la satisfaction client est inférieure à la moyenne globale. </a:t>
            </a:r>
            <a:endParaRPr lang="fr-FR" dirty="0" smtClean="0"/>
          </a:p>
          <a:p>
            <a:pPr algn="just"/>
            <a:endParaRPr lang="fr-FR" dirty="0"/>
          </a:p>
          <a:p>
            <a:pPr algn="just"/>
            <a:r>
              <a:rPr lang="fr-FR" dirty="0" smtClean="0"/>
              <a:t>Ce </a:t>
            </a:r>
            <a:r>
              <a:rPr lang="fr-FR" dirty="0"/>
              <a:t>sont eux que nous devrions prioriser pour les actions d’amélioration. On se concentre donc là où l’impact client sera le plus fort.”</a:t>
            </a:r>
          </a:p>
        </p:txBody>
      </p:sp>
      <p:sp>
        <p:nvSpPr>
          <p:cNvPr id="7" name="Google Shape;110;p17"/>
          <p:cNvSpPr txBox="1">
            <a:spLocks/>
          </p:cNvSpPr>
          <p:nvPr/>
        </p:nvSpPr>
        <p:spPr>
          <a:xfrm>
            <a:off x="7276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fr-FR" sz="2400" dirty="0" smtClean="0">
                <a:latin typeface="Montserrat"/>
                <a:ea typeface="Montserrat"/>
                <a:cs typeface="Montserrat"/>
                <a:sym typeface="Montserrat"/>
              </a:rPr>
              <a:t>4)  Requêtes SQL et Analyses</a:t>
            </a:r>
          </a:p>
          <a:p>
            <a:pPr>
              <a:buSzPts val="990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94047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17"/>
          <p:cNvSpPr txBox="1">
            <a:spLocks/>
          </p:cNvSpPr>
          <p:nvPr/>
        </p:nvSpPr>
        <p:spPr>
          <a:xfrm>
            <a:off x="7276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fr-FR" sz="2400" dirty="0" smtClean="0">
                <a:latin typeface="Montserrat"/>
                <a:ea typeface="Montserrat"/>
                <a:cs typeface="Montserrat"/>
                <a:sym typeface="Montserrat"/>
              </a:rPr>
              <a:t>4)  Requêtes SQL et Analyses</a:t>
            </a:r>
          </a:p>
          <a:p>
            <a:pPr>
              <a:buSzPts val="990"/>
            </a:pPr>
            <a:endParaRPr lang="fr-FR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524221"/>
            <a:ext cx="5095875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580" y="1625044"/>
            <a:ext cx="417195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38530" y="3073855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fr-FR" dirty="0"/>
              <a:t>Nous avons comparé la satisfaction client entre le premier et le deuxième trimestre 2021.</a:t>
            </a:r>
            <a:br>
              <a:rPr lang="fr-FR" dirty="0"/>
            </a:br>
            <a:endParaRPr lang="fr-FR" dirty="0" smtClean="0"/>
          </a:p>
          <a:p>
            <a:pPr algn="just"/>
            <a:r>
              <a:rPr lang="fr-FR" dirty="0" smtClean="0"/>
              <a:t>Cette </a:t>
            </a:r>
            <a:r>
              <a:rPr lang="fr-FR" dirty="0"/>
              <a:t>analyse met en évidence les catégories de produits pour lesquelles la satisfaction a progressé.</a:t>
            </a:r>
            <a:br>
              <a:rPr lang="fr-FR" dirty="0"/>
            </a:br>
            <a:endParaRPr lang="fr-FR" dirty="0" smtClean="0"/>
          </a:p>
          <a:p>
            <a:pPr algn="just"/>
            <a:r>
              <a:rPr lang="fr-FR" dirty="0" smtClean="0"/>
              <a:t>Elles </a:t>
            </a:r>
            <a:r>
              <a:rPr lang="fr-FR" dirty="0"/>
              <a:t>représentent des leviers positifs que nous pouvons valoriser</a:t>
            </a:r>
          </a:p>
        </p:txBody>
      </p:sp>
    </p:spTree>
    <p:extLst>
      <p:ext uri="{BB962C8B-B14F-4D97-AF65-F5344CB8AC3E}">
        <p14:creationId xmlns:p14="http://schemas.microsoft.com/office/powerpoint/2010/main" val="425576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2978"/>
            <a:ext cx="7859713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561" y="1912059"/>
            <a:ext cx="4191000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Google Shape;110;p17"/>
          <p:cNvSpPr txBox="1">
            <a:spLocks/>
          </p:cNvSpPr>
          <p:nvPr/>
        </p:nvSpPr>
        <p:spPr>
          <a:xfrm>
            <a:off x="7276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fr-FR" sz="2400" dirty="0" smtClean="0">
                <a:latin typeface="Montserrat"/>
                <a:ea typeface="Montserrat"/>
                <a:cs typeface="Montserrat"/>
                <a:sym typeface="Montserrat"/>
              </a:rPr>
              <a:t>4)  Requêtes SQL et Analyses</a:t>
            </a:r>
          </a:p>
          <a:p>
            <a:pPr>
              <a:buSzPts val="990"/>
            </a:pPr>
            <a:endParaRPr lang="fr-FR" sz="2400" dirty="0"/>
          </a:p>
        </p:txBody>
      </p:sp>
      <p:sp>
        <p:nvSpPr>
          <p:cNvPr id="7" name="Rectangle 6"/>
          <p:cNvSpPr/>
          <p:nvPr/>
        </p:nvSpPr>
        <p:spPr>
          <a:xfrm>
            <a:off x="727649" y="2881788"/>
            <a:ext cx="794262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Le Net </a:t>
            </a:r>
            <a:r>
              <a:rPr lang="fr-FR" dirty="0" err="1"/>
              <a:t>Promoter</a:t>
            </a:r>
            <a:r>
              <a:rPr lang="fr-FR" dirty="0"/>
              <a:t> Score mesure la part de nos clients promoteurs moins celle des détracteurs.</a:t>
            </a:r>
            <a:br>
              <a:rPr lang="fr-FR" dirty="0"/>
            </a:br>
            <a:endParaRPr lang="fr-FR" dirty="0" smtClean="0"/>
          </a:p>
          <a:p>
            <a:r>
              <a:rPr lang="fr-FR" dirty="0" smtClean="0"/>
              <a:t>Il </a:t>
            </a:r>
            <a:r>
              <a:rPr lang="fr-FR" dirty="0"/>
              <a:t>permet d’évaluer la fidélité et la propension de nos clients à recommander </a:t>
            </a:r>
            <a:r>
              <a:rPr lang="fr-FR" dirty="0" err="1"/>
              <a:t>BestMarket</a:t>
            </a:r>
            <a:r>
              <a:rPr lang="fr-FR" dirty="0"/>
              <a:t>.</a:t>
            </a:r>
            <a:br>
              <a:rPr lang="fr-FR" dirty="0"/>
            </a:br>
            <a:endParaRPr lang="fr-FR" dirty="0" smtClean="0"/>
          </a:p>
          <a:p>
            <a:r>
              <a:rPr lang="fr-FR" dirty="0" smtClean="0"/>
              <a:t>Ce </a:t>
            </a:r>
            <a:r>
              <a:rPr lang="fr-FR" dirty="0"/>
              <a:t>score est un indicateur global de la qualité de l’expérience client</a:t>
            </a:r>
            <a:r>
              <a:rPr lang="fr-FR" dirty="0" smtClean="0"/>
              <a:t>.</a:t>
            </a:r>
          </a:p>
          <a:p>
            <a:endParaRPr lang="fr-FR" dirty="0" smtClean="0"/>
          </a:p>
          <a:p>
            <a:r>
              <a:rPr lang="fr-FR" dirty="0" smtClean="0"/>
              <a:t>+30 : Bonne </a:t>
            </a:r>
            <a:r>
              <a:rPr lang="fr-FR" dirty="0"/>
              <a:t>satisfaction — majorité de promoteurs</a:t>
            </a:r>
          </a:p>
        </p:txBody>
      </p:sp>
    </p:spTree>
    <p:extLst>
      <p:ext uri="{BB962C8B-B14F-4D97-AF65-F5344CB8AC3E}">
        <p14:creationId xmlns:p14="http://schemas.microsoft.com/office/powerpoint/2010/main" val="134831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17"/>
          <p:cNvSpPr txBox="1">
            <a:spLocks/>
          </p:cNvSpPr>
          <p:nvPr/>
        </p:nvSpPr>
        <p:spPr>
          <a:xfrm>
            <a:off x="7276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fr-FR" sz="2400" dirty="0" smtClean="0">
                <a:latin typeface="Montserrat"/>
                <a:ea typeface="Montserrat"/>
                <a:cs typeface="Montserrat"/>
                <a:sym typeface="Montserrat"/>
              </a:rPr>
              <a:t>4)  Requêtes SQL et Analyses</a:t>
            </a:r>
          </a:p>
          <a:p>
            <a:pPr>
              <a:buSzPts val="990"/>
            </a:pPr>
            <a:endParaRPr lang="fr-FR" sz="2400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56" y="1687016"/>
            <a:ext cx="4143375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01171"/>
            <a:ext cx="3533775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681" y="3305921"/>
            <a:ext cx="41529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879"/>
            <a:ext cx="8088313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895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17"/>
          <p:cNvSpPr txBox="1">
            <a:spLocks/>
          </p:cNvSpPr>
          <p:nvPr/>
        </p:nvSpPr>
        <p:spPr>
          <a:xfrm>
            <a:off x="727650" y="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fr-FR" sz="2400" dirty="0" smtClean="0">
                <a:latin typeface="Montserrat"/>
                <a:ea typeface="Montserrat"/>
                <a:cs typeface="Montserrat"/>
                <a:sym typeface="Montserrat"/>
              </a:rPr>
              <a:t>4)  Requêtes SQL et Analyses</a:t>
            </a:r>
          </a:p>
          <a:p>
            <a:pPr>
              <a:buSzPts val="990"/>
            </a:pPr>
            <a:endParaRPr lang="fr-FR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3703"/>
            <a:ext cx="3924300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042" y="626528"/>
            <a:ext cx="4191000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65852" y="2679809"/>
            <a:ext cx="826035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L’analyse des retours clients montre que les magasins </a:t>
            </a:r>
            <a:r>
              <a:rPr lang="fr-FR" dirty="0" smtClean="0"/>
              <a:t>identifiés sont </a:t>
            </a:r>
            <a:r>
              <a:rPr lang="fr-FR" dirty="0"/>
              <a:t>ceux ayant reçu le plus grand nombre de feedbacks</a:t>
            </a:r>
            <a:r>
              <a:rPr lang="fr-FR" dirty="0" smtClean="0"/>
              <a:t>.</a:t>
            </a:r>
          </a:p>
          <a:p>
            <a:r>
              <a:rPr lang="fr-FR" dirty="0"/>
              <a:t/>
            </a:r>
            <a:br>
              <a:rPr lang="fr-FR" dirty="0"/>
            </a:br>
            <a:r>
              <a:rPr lang="fr-FR" dirty="0"/>
              <a:t>Cela peut traduire une forte fréquentation de ces magasins ou une meilleure réactivité des clients à partager leur expérience</a:t>
            </a:r>
            <a:r>
              <a:rPr lang="fr-FR" dirty="0" smtClean="0"/>
              <a:t>.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04677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671000" y="640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 dirty="0">
                <a:latin typeface="Montserrat"/>
                <a:ea typeface="Montserrat"/>
                <a:cs typeface="Montserrat"/>
                <a:sym typeface="Montserrat"/>
              </a:rPr>
              <a:t>5)  Cohérence des données</a:t>
            </a:r>
            <a:endParaRPr sz="3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dirty="0" smtClean="0"/>
              <a:t/>
            </a:r>
            <a:br>
              <a:rPr lang="fr-FR" sz="3600" dirty="0" smtClean="0"/>
            </a:br>
            <a:r>
              <a:rPr lang="fr-FR" sz="3600" dirty="0"/>
              <a:t/>
            </a:r>
            <a:br>
              <a:rPr lang="fr-FR" sz="3600" dirty="0"/>
            </a:b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264405" y="1437849"/>
            <a:ext cx="8626207" cy="3607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fr-FR" sz="1400" b="1" dirty="0">
                <a:solidFill>
                  <a:schemeClr val="bg2"/>
                </a:solidFill>
                <a:latin typeface="+mj-lt"/>
              </a:rPr>
              <a:t>S’assurer qu’il n’y a pas de </a:t>
            </a: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doublons</a:t>
            </a:r>
          </a:p>
          <a:p>
            <a:pPr marL="0" indent="0">
              <a:spcAft>
                <a:spcPts val="1200"/>
              </a:spcAft>
              <a:buNone/>
            </a:pPr>
            <a:endParaRPr lang="fr-FR" b="1" dirty="0">
              <a:solidFill>
                <a:schemeClr val="bg2"/>
              </a:solidFill>
              <a:latin typeface="+mj-lt"/>
            </a:endParaRPr>
          </a:p>
          <a:p>
            <a:pPr marL="0" indent="0">
              <a:spcAft>
                <a:spcPts val="1200"/>
              </a:spcAft>
              <a:buNone/>
            </a:pPr>
            <a:endParaRPr lang="fr-FR" b="1" dirty="0" smtClean="0">
              <a:solidFill>
                <a:schemeClr val="bg2"/>
              </a:solidFill>
              <a:latin typeface="+mj-lt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Identifier </a:t>
            </a:r>
            <a:r>
              <a:rPr lang="fr-FR" sz="1400" b="1" dirty="0">
                <a:solidFill>
                  <a:schemeClr val="bg2"/>
                </a:solidFill>
                <a:latin typeface="+mj-lt"/>
              </a:rPr>
              <a:t>les données </a:t>
            </a: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manquantes</a:t>
            </a:r>
          </a:p>
          <a:p>
            <a:pPr marL="0" indent="0">
              <a:spcAft>
                <a:spcPts val="1200"/>
              </a:spcAft>
              <a:buNone/>
            </a:pPr>
            <a:endParaRPr lang="fr-FR" b="1" dirty="0">
              <a:solidFill>
                <a:schemeClr val="bg2"/>
              </a:solidFill>
              <a:latin typeface="+mj-lt"/>
            </a:endParaRPr>
          </a:p>
          <a:p>
            <a:pPr marL="0" indent="0">
              <a:spcAft>
                <a:spcPts val="1200"/>
              </a:spcAft>
              <a:buNone/>
            </a:pPr>
            <a:endParaRPr lang="fr-FR" dirty="0" smtClean="0"/>
          </a:p>
          <a:p>
            <a:pPr marL="0" indent="0">
              <a:spcAft>
                <a:spcPts val="1200"/>
              </a:spcAft>
              <a:buNone/>
            </a:pPr>
            <a:r>
              <a:rPr lang="fr-FR" sz="1400" b="1" dirty="0" smtClean="0">
                <a:solidFill>
                  <a:schemeClr val="bg2"/>
                </a:solidFill>
                <a:latin typeface="+mj-lt"/>
              </a:rPr>
              <a:t>Vérifier </a:t>
            </a:r>
            <a:r>
              <a:rPr lang="fr-FR" sz="1400" b="1" dirty="0">
                <a:solidFill>
                  <a:schemeClr val="bg2"/>
                </a:solidFill>
                <a:latin typeface="+mj-lt"/>
              </a:rPr>
              <a:t>la cohérence des liens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562" y="1795749"/>
            <a:ext cx="5398724" cy="655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14" y="1898918"/>
            <a:ext cx="2633529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14" y="3060969"/>
            <a:ext cx="2324100" cy="45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973" y="2918093"/>
            <a:ext cx="5802313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14" y="4167188"/>
            <a:ext cx="3909764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930" y="4167187"/>
            <a:ext cx="4295775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422</Words>
  <Application>Microsoft Office PowerPoint</Application>
  <PresentationFormat>Affichage à l'écran (16:9)</PresentationFormat>
  <Paragraphs>78</Paragraphs>
  <Slides>17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Arial</vt:lpstr>
      <vt:lpstr>Lato</vt:lpstr>
      <vt:lpstr>Wingdings</vt:lpstr>
      <vt:lpstr>Montserrat</vt:lpstr>
      <vt:lpstr>Raleway</vt:lpstr>
      <vt:lpstr>Streamline</vt:lpstr>
      <vt:lpstr>Présentation PowerPoint</vt:lpstr>
      <vt:lpstr>Contexte et expression du besoin </vt:lpstr>
      <vt:lpstr>2)  Sauvegarde et stockage de la BDD  </vt:lpstr>
      <vt:lpstr>3)  Méthodologie suivie    </vt:lpstr>
      <vt:lpstr>Présentation PowerPoint</vt:lpstr>
      <vt:lpstr>Présentation PowerPoint</vt:lpstr>
      <vt:lpstr>Présentation PowerPoint</vt:lpstr>
      <vt:lpstr>4)  Requêtes SQL et Analyses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5)  Cohérence des données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ASSIA</dc:creator>
  <cp:lastModifiedBy>salam</cp:lastModifiedBy>
  <cp:revision>12</cp:revision>
  <dcterms:modified xsi:type="dcterms:W3CDTF">2025-11-13T11:36:20Z</dcterms:modified>
</cp:coreProperties>
</file>